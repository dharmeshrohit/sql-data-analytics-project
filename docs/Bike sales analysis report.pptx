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outlineViewPr>
    <p:cViewPr>
      <p:scale>
        <a:sx n="33" d="100"/>
        <a:sy n="33" d="100"/>
      </p:scale>
      <p:origin x="0" y="-522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7E85-BCA9-4B03-204B-7411DC820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7B2E0-D84C-F0A5-08C3-096C68493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4694A-0559-D62D-4964-035AC4D8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E06BE-BF8F-500F-EE76-CB57128D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CCA03-46DF-5B11-74E2-FD94D2B6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63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5032-851C-75C3-ED09-8A72ACAF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D5706-AE1F-6D2B-794C-EEEE3CBB9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D326D-CA42-F75E-EADD-4D5FAF3A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14A24-1950-03EC-3833-EEB7A75F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BCBD-318F-8467-72B0-A1A689F5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84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7450-CC73-946F-5E21-599B7A25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5CE9C-65E9-639A-28BC-E736BF7D1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0ED2-1F9A-AC3F-1E3C-5B725780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90AD4-7C50-3255-DA79-A4A12832C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CD591-F516-3F55-EB54-38629F0D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09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0439-5B36-5729-EE88-0955ED0A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F3E9E-53FF-D036-C686-1DF763695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BD712-B36D-8862-5293-15C93DB5F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BFC41-B62F-1648-72C7-452B3295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BDD06-0C76-06FC-7B6F-D3F9F106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5C0B6-5BAF-C18D-2EEC-A9F34B1D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92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1F4B-4A77-4A44-B0D9-F8850A1B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6535B-1A25-E063-133F-C897A6DDC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2093C-F8A3-41E1-4AB7-3708C8E31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FCFA0-16F2-DFE0-F01A-1B552661E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7F767-ADE3-C965-5E9A-F99C7EBE0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2DBE5-DD7D-897A-BA13-C77C2AA7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D9EE20-CE0B-115E-9B0C-6B04D9B7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406D8B-01EF-A4C2-7EC5-10128ED5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43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0094-3403-F826-1767-08578108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E0E1B-A80F-B246-7544-789E59149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6858A-3B64-E34A-7FC9-D1499B0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9F9AE-9262-78D5-FB6E-49A76ACC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53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44E43E-9A91-1E92-FFCD-A92BEBC9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C4531-DFA9-6831-501B-DA0B47A3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5261C-54A6-A09E-3446-0528519D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69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B4D0-B134-A45E-C744-B5E8CB51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EB2C4-C8E3-C351-2755-5FE98D6A8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E3455-CDF8-B97F-8606-A3F3493FF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A56D6-C8D8-30DD-BB6A-62B81A64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15072-FD4D-8171-07BB-A780D972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A813E-9A1D-6CA4-4A3C-93426BC4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61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4A6A-08E0-3364-590D-0AF03095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3792B-2F49-389D-FF54-A8CAF2912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3793D-B855-AEED-31AA-A2CA609F7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06BED-4AA0-FD6B-6636-5CB90ABF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B7B72-41BE-5613-8339-6381BBE1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24F55-6483-B1DF-741E-18EA9404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09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5587-63AE-5443-A2F3-9D3C1B09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0FD08-3191-EDDC-737F-3685C0AFA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ADBF-FF09-7538-69A8-179C349F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886C8-6A06-347A-8219-5CD65EA9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4C976-DE7D-9314-CC2E-DBF202BE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35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247D9-6934-7835-8C65-69D9AA07A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70191-F7C3-7CB3-BD9B-20B137FA1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A1505-4E6B-CD31-C4B9-B8BAA0F4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E686E-68CD-83D4-9102-8C066EEB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58C63-3A95-D1B4-A31B-65A1FBE2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68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62F83-DD34-EE14-2484-BEAA6DC34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556BC-C27E-C371-57A5-617CBDB13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2905A-A42F-8D8E-AB0B-66F80FFC4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1EFA-5E6D-466F-8B5B-0EA28AD20BB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1C989-AFCC-F253-B38A-039E243EB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A8C35-8675-91F2-1C72-CD67C4D36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BCE80-C379-4A66-A0CD-7B688D7B3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670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ugeek.github.io/blog/list.html" TargetMode="External"/><Relationship Id="rId2" Type="http://schemas.openxmlformats.org/officeDocument/2006/relationships/hyperlink" Target="https://www.linkedin.com/in/dharmesh-rohit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github.com/dharmeshrohit" TargetMode="External"/><Relationship Id="rId4" Type="http://schemas.openxmlformats.org/officeDocument/2006/relationships/hyperlink" Target="https://www.jesseyates.com/2015/06/18/dev-tip-using-gradle-without-hating-it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armeshrohit/SQL-DataWarehouse-Project" TargetMode="External"/><Relationship Id="rId2" Type="http://schemas.openxmlformats.org/officeDocument/2006/relationships/hyperlink" Target="https://github.com/dharmeshrohit/SQL-Data-Analytics-Projec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harmeshrohit/SQL-Data-Analytics-Project/tree/main/datasets/csv-file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747ED-2092-5EAB-7528-DDA758B9B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180" y="1935359"/>
            <a:ext cx="10405640" cy="477837"/>
          </a:xfrm>
        </p:spPr>
        <p:txBody>
          <a:bodyPr>
            <a:noAutofit/>
          </a:bodyPr>
          <a:lstStyle/>
          <a:p>
            <a:r>
              <a:rPr lang="en-IN" sz="4400" dirty="0">
                <a:latin typeface="Comic Sans MS" panose="030F0702030302020204" pitchFamily="66" charset="0"/>
              </a:rPr>
              <a:t>BIKE SALES ANALYSIS PROJECT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104E7-E697-6CDC-B84C-A5479EB81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8918"/>
            <a:ext cx="9144000" cy="1655762"/>
          </a:xfrm>
        </p:spPr>
        <p:txBody>
          <a:bodyPr>
            <a:normAutofit/>
          </a:bodyPr>
          <a:lstStyle/>
          <a:p>
            <a:r>
              <a:rPr lang="en-IN" sz="2000" dirty="0"/>
              <a:t>By</a:t>
            </a:r>
          </a:p>
          <a:p>
            <a:r>
              <a:rPr lang="en-IN" sz="3200" dirty="0">
                <a:latin typeface="Comic Sans MS" panose="030F0702030302020204" pitchFamily="66" charset="0"/>
              </a:rPr>
              <a:t>Dharmesh Rohit</a:t>
            </a:r>
          </a:p>
          <a:p>
            <a:r>
              <a:rPr lang="en-IN" sz="2000" dirty="0"/>
              <a:t>Data Analyst</a:t>
            </a:r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CA3BC2E9-1D36-68BA-97AF-1EB9EE56D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4531046"/>
            <a:ext cx="707571" cy="707571"/>
          </a:xfrm>
          <a:prstGeom prst="rect">
            <a:avLst/>
          </a:prstGeom>
        </p:spPr>
      </p:pic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C4028830-055D-92EE-8768-82067841D0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410201" y="4629018"/>
            <a:ext cx="511628" cy="51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3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C612-8609-E74A-1FF0-E6C19DB5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Bike Sales analysis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B690-65E7-4E77-D166-84FBE54ED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Repository</a:t>
            </a:r>
            <a:endParaRPr lang="en-IN" sz="2000" dirty="0"/>
          </a:p>
          <a:p>
            <a:r>
              <a:rPr lang="en-IN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Warehouse Project Repository</a:t>
            </a:r>
            <a:endParaRPr lang="en-IN" sz="2000" dirty="0"/>
          </a:p>
          <a:p>
            <a:r>
              <a:rPr lang="en-IN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Datasets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8910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ADF62-0374-E71B-F617-6D250C3D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0" y="-113847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37B32-62C5-523C-C234-622748D2F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0" y="965653"/>
            <a:ext cx="10515600" cy="53807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Date range of the data: "2010-12-29“ to "2014-01-28“</a:t>
            </a:r>
          </a:p>
          <a:p>
            <a:pPr marL="0" indent="0">
              <a:buNone/>
            </a:pPr>
            <a:r>
              <a:rPr lang="en-IN" dirty="0"/>
              <a:t>Key Performance Indicators (KPIs)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sz="2000" b="1" dirty="0"/>
          </a:p>
          <a:p>
            <a:r>
              <a:rPr lang="en-US" sz="2000" b="1" dirty="0"/>
              <a:t>Key Insights:</a:t>
            </a:r>
          </a:p>
          <a:p>
            <a:r>
              <a:rPr lang="en-US" sz="2000" dirty="0"/>
              <a:t>The business generated </a:t>
            </a:r>
            <a:r>
              <a:rPr lang="en-US" sz="2000" b="1" dirty="0"/>
              <a:t>$29.35 million</a:t>
            </a:r>
            <a:r>
              <a:rPr lang="en-US" sz="2000" dirty="0"/>
              <a:t> in revenue, with over </a:t>
            </a:r>
            <a:r>
              <a:rPr lang="en-US" sz="2000" b="1" dirty="0"/>
              <a:t>60,420 products sold</a:t>
            </a:r>
            <a:r>
              <a:rPr lang="en-US" sz="2000" dirty="0"/>
              <a:t>.</a:t>
            </a:r>
          </a:p>
          <a:p>
            <a:r>
              <a:rPr lang="en-US" sz="2000" dirty="0"/>
              <a:t>A total of </a:t>
            </a:r>
            <a:r>
              <a:rPr lang="en-US" sz="2000" b="1" dirty="0"/>
              <a:t>60,379 transactions</a:t>
            </a:r>
            <a:r>
              <a:rPr lang="en-US" sz="2000" dirty="0"/>
              <a:t> were recorded, placed by approximately </a:t>
            </a:r>
            <a:r>
              <a:rPr lang="en-US" sz="2000" b="1" dirty="0"/>
              <a:t>18,484 unique customers</a:t>
            </a:r>
            <a:r>
              <a:rPr lang="en-US" sz="2000" dirty="0"/>
              <a:t>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average price per item</a:t>
            </a:r>
            <a:r>
              <a:rPr lang="en-US" sz="2000" dirty="0"/>
              <a:t> across all sales is </a:t>
            </a:r>
            <a:r>
              <a:rPr lang="en-US" sz="2000" b="1" dirty="0"/>
              <a:t>$486.11</a:t>
            </a:r>
            <a:r>
              <a:rPr lang="en-US" sz="2000" dirty="0"/>
              <a:t>, indicating a mid-to-premium product range.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FEAD3-1443-87BC-6364-BD14BF81D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98"/>
          <a:stretch>
            <a:fillRect/>
          </a:stretch>
        </p:blipFill>
        <p:spPr>
          <a:xfrm>
            <a:off x="2583993" y="2008189"/>
            <a:ext cx="6762753" cy="8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9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F6C9-7E02-F677-01EF-A2BFEA47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36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Geographic Sales Distribution:</a:t>
            </a:r>
            <a:endParaRPr lang="en-IN" sz="28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4631-E874-328D-11C2-D4BE32AE0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057" y="478971"/>
            <a:ext cx="5671457" cy="52299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</a:t>
            </a:r>
            <a:r>
              <a:rPr lang="en-US" sz="2000" b="1" dirty="0"/>
              <a:t>United States ($9.16M)</a:t>
            </a:r>
            <a:r>
              <a:rPr lang="en-US" sz="2000" dirty="0"/>
              <a:t> and </a:t>
            </a:r>
            <a:r>
              <a:rPr lang="en-US" sz="2000" b="1" dirty="0"/>
              <a:t>Australia ($9.06M)</a:t>
            </a:r>
            <a:r>
              <a:rPr lang="en-US" sz="2000" dirty="0"/>
              <a:t> are the top-performing markets, together contributing over </a:t>
            </a:r>
            <a:r>
              <a:rPr lang="en-US" sz="2000" b="1" dirty="0"/>
              <a:t>60%</a:t>
            </a:r>
            <a:r>
              <a:rPr lang="en-US" sz="2000" dirty="0"/>
              <a:t> of total sales.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United Kingdom ($3.39M)</a:t>
            </a:r>
            <a:r>
              <a:rPr lang="en-US" sz="2000" dirty="0"/>
              <a:t>, </a:t>
            </a:r>
            <a:r>
              <a:rPr lang="en-US" sz="2000" b="1" dirty="0"/>
              <a:t>Germany ($2.89M)</a:t>
            </a:r>
            <a:r>
              <a:rPr lang="en-US" sz="2000" dirty="0"/>
              <a:t>, and </a:t>
            </a:r>
            <a:r>
              <a:rPr lang="en-US" sz="2000" b="1" dirty="0"/>
              <a:t>France ($2.64M)</a:t>
            </a:r>
            <a:r>
              <a:rPr lang="en-US" sz="2000" dirty="0"/>
              <a:t> show strong mid-tier performance.</a:t>
            </a:r>
          </a:p>
          <a:p>
            <a:r>
              <a:rPr lang="en-US" sz="2000" b="1" dirty="0"/>
              <a:t>Canada ($1.98M)</a:t>
            </a:r>
            <a:r>
              <a:rPr lang="en-US" sz="2000" dirty="0"/>
              <a:t> presents potential for growth.</a:t>
            </a:r>
          </a:p>
          <a:p>
            <a:r>
              <a:rPr lang="en-US" sz="2000" dirty="0"/>
              <a:t>Around </a:t>
            </a:r>
            <a:r>
              <a:rPr lang="en-US" sz="2000" b="1" dirty="0"/>
              <a:t>$230K</a:t>
            </a:r>
            <a:r>
              <a:rPr lang="en-US" sz="2000" dirty="0"/>
              <a:t> worth of sales have no country associated, indicating data quality issues or unclassified records.</a:t>
            </a:r>
          </a:p>
          <a:p>
            <a:r>
              <a:rPr lang="en-US" sz="2000" b="1" i="1" dirty="0"/>
              <a:t>Recommendation:</a:t>
            </a:r>
            <a:r>
              <a:rPr lang="en-US" sz="2000" b="1" dirty="0"/>
              <a:t> </a:t>
            </a:r>
            <a:r>
              <a:rPr lang="en-US" sz="2000" dirty="0"/>
              <a:t>Prioritize marketing efforts in the US and Australia, and investigate the “n/a” country data for cleanup.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1DC1E-9865-4D72-0CD3-F7569B333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5" y="1751151"/>
            <a:ext cx="5477093" cy="318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2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537A-197B-4B9A-73B7-E9CFA710F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3332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Items Sold by Country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E7F6159-1289-8806-9B4C-7C39580EFC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56514" y="792966"/>
            <a:ext cx="549728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United States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leads not only in revenue but also in volume,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20,474 items sold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Australia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follows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13,344 units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a strong market presence.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Interestingly,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Canada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ranks 3rd in volume (7,629 items) but 6th in revenue — suggesting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lower-priced items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discount rates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Germany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 have similar unit volumes between 5.5K–6.9K, reflecting consistent demand across Europe.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“n/a” category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again highlights data needing attention —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871 units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lack country info.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6F2640-3ECB-DC35-735C-AA31F3BA4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08" y="1610872"/>
            <a:ext cx="3467584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9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5373-9C73-2261-7E55-322EB50F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1817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Sales by Category &amp; Subcategory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1B009DE-88D1-B584-1DC1-B1B247224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2971" y="3936368"/>
            <a:ext cx="818605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clear leader, accounting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$28.31M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revenue.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96.46%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total sales.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$699.9K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$339.7K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respectively, suggesting potential for growth through bundling or promotions.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B0F81E-2F9B-FFFE-4E52-16A3BD2EA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056" y="909694"/>
            <a:ext cx="3972287" cy="2859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1C8070-1894-F30C-464B-FD940BC20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0" r="2429"/>
          <a:stretch>
            <a:fillRect/>
          </a:stretch>
        </p:blipFill>
        <p:spPr>
          <a:xfrm>
            <a:off x="5925446" y="705641"/>
            <a:ext cx="4216422" cy="285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5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78D03-248E-D4E1-52BE-B6813BAD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2196708"/>
            <a:ext cx="10548257" cy="3586163"/>
          </a:xfrm>
        </p:spPr>
        <p:txBody>
          <a:bodyPr>
            <a:noAutofit/>
          </a:bodyPr>
          <a:lstStyle/>
          <a:p>
            <a:r>
              <a:rPr lang="en-US" sz="2000" b="1" dirty="0"/>
              <a:t>Top Performing Subcategories:</a:t>
            </a:r>
          </a:p>
          <a:p>
            <a:r>
              <a:rPr lang="en-US" sz="2000" dirty="0"/>
              <a:t>Within </a:t>
            </a:r>
            <a:r>
              <a:rPr lang="en-US" sz="2000" b="1" dirty="0"/>
              <a:t>Bikes</a:t>
            </a:r>
            <a:r>
              <a:rPr lang="en-US" sz="2000" dirty="0"/>
              <a:t>, the best sellers are:</a:t>
            </a:r>
          </a:p>
          <a:p>
            <a:pPr lvl="1"/>
            <a:r>
              <a:rPr lang="en-US" sz="2000" b="1" dirty="0"/>
              <a:t>Road Bikes</a:t>
            </a:r>
            <a:r>
              <a:rPr lang="en-US" sz="2000" dirty="0"/>
              <a:t> – $14.52M</a:t>
            </a:r>
          </a:p>
          <a:p>
            <a:pPr lvl="1"/>
            <a:r>
              <a:rPr lang="en-US" sz="2000" b="1" dirty="0"/>
              <a:t>Mountain Bikes</a:t>
            </a:r>
            <a:r>
              <a:rPr lang="en-US" sz="2000" dirty="0"/>
              <a:t> – $9.95M</a:t>
            </a:r>
          </a:p>
          <a:p>
            <a:pPr lvl="1"/>
            <a:r>
              <a:rPr lang="en-US" sz="2000" b="1" dirty="0"/>
              <a:t>Touring Bikes</a:t>
            </a:r>
            <a:r>
              <a:rPr lang="en-US" sz="2000" dirty="0"/>
              <a:t> – $3.84M</a:t>
            </a:r>
          </a:p>
          <a:p>
            <a:r>
              <a:rPr lang="en-US" sz="2000" dirty="0"/>
              <a:t>Within </a:t>
            </a:r>
            <a:r>
              <a:rPr lang="en-US" sz="2000" b="1" dirty="0"/>
              <a:t>Accessories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Tires and Tubes</a:t>
            </a:r>
            <a:r>
              <a:rPr lang="en-US" sz="2000" dirty="0"/>
              <a:t> – $244.4K</a:t>
            </a:r>
          </a:p>
          <a:p>
            <a:pPr lvl="1"/>
            <a:r>
              <a:rPr lang="en-US" sz="2000" b="1" dirty="0"/>
              <a:t>Helmets</a:t>
            </a:r>
            <a:r>
              <a:rPr lang="en-US" sz="2000" dirty="0"/>
              <a:t> – $225.4K</a:t>
            </a:r>
          </a:p>
          <a:p>
            <a:pPr lvl="1"/>
            <a:r>
              <a:rPr lang="en-US" sz="2000" dirty="0"/>
              <a:t>Others (e.g., Hydration Packs, Bike Stands) are below $60K</a:t>
            </a:r>
          </a:p>
          <a:p>
            <a:r>
              <a:rPr lang="en-US" sz="2000" dirty="0"/>
              <a:t>Within </a:t>
            </a:r>
            <a:r>
              <a:rPr lang="en-US" sz="2000" b="1" dirty="0"/>
              <a:t>Clothing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Jerseys</a:t>
            </a:r>
            <a:r>
              <a:rPr lang="en-US" sz="2000" dirty="0"/>
              <a:t> dominate with $173K</a:t>
            </a:r>
          </a:p>
          <a:p>
            <a:pPr lvl="1"/>
            <a:r>
              <a:rPr lang="en-US" sz="2000" dirty="0"/>
              <a:t>Followed by </a:t>
            </a:r>
            <a:r>
              <a:rPr lang="en-US" sz="2000" b="1" dirty="0"/>
              <a:t>Shorts</a:t>
            </a:r>
            <a:r>
              <a:rPr lang="en-US" sz="2000" dirty="0"/>
              <a:t> ($71K) and </a:t>
            </a:r>
            <a:r>
              <a:rPr lang="en-US" sz="2000" b="1" dirty="0"/>
              <a:t>Vests/Gloves</a:t>
            </a:r>
            <a:r>
              <a:rPr lang="en-US" sz="2000" dirty="0"/>
              <a:t> (~$35K each)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5D6C4C-C475-1A5A-3716-226025645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43" y="450654"/>
            <a:ext cx="3404870" cy="16110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9F2871E-8106-3DA9-16DC-0064836E1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705" y="315686"/>
            <a:ext cx="2942589" cy="18810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4332F2C-C12F-1101-7F85-50DD6CBDD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018" y="398933"/>
            <a:ext cx="3038839" cy="19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9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5D94-EAEB-9D84-745E-97D3DED1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619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Sales Trend by Year (2010–2014)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E0DDC2-FF59-4E75-437A-1FDD950B6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2371" y="3987980"/>
            <a:ext cx="1016725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Sales began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$43K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marking the start of operations.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2011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sales jumped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$7.08M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showing strong early growth.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2012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there was a slight dip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$5.84M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possibly due to market saturation or seasonal changes.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major spike occurred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2013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reaching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$16.35M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highest on record — more than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2.5x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growth from 2012.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2014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shows only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$45K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sales, indicating the year was either incomplete in the data or represents a shutdown/transition period.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F969A5-DD89-B2F0-1C5C-19B4FCF9A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896" y="863374"/>
            <a:ext cx="6117875" cy="293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0D31-B0E4-647D-8D2E-D7436219E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594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/>
              <a:t>Sales by Month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C0E5A-E358-5CFA-0F96-B51AEB570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66" y="1006069"/>
            <a:ext cx="3738676" cy="1955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55BF52-5079-46C2-E494-EC304AE1F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611" y="962946"/>
            <a:ext cx="3756779" cy="2041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380DEC-0304-3BA4-2343-0A02FDDCF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659" y="833581"/>
            <a:ext cx="3777158" cy="2128175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2B6706E-3E18-DB3A-E075-90CFDDF73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6915" y="3624570"/>
            <a:ext cx="896982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Overall Growth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Sales increased annually, from 470K (Jan 2011) to 1,874K (Dec 2013), showing a strong upward trend.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Seasonal Peaks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June and December consistently saw the highest sales (e.g., 738K in Jun 2011, 1,874K in Dec 2013), likely due to seasonal demand or promotions. </a:t>
            </a:r>
          </a:p>
        </p:txBody>
      </p:sp>
    </p:spTree>
    <p:extLst>
      <p:ext uri="{BB962C8B-B14F-4D97-AF65-F5344CB8AC3E}">
        <p14:creationId xmlns:p14="http://schemas.microsoft.com/office/powerpoint/2010/main" val="253539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F8D305A-7D04-5420-739E-5A0A74F55C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3514" y="665744"/>
            <a:ext cx="103849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February and March often had dips (e.g., 373K in Mar 2012), possibly from post-holiday slumps.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Sales fluctuated but recovered well after dips (e.g., 738K in Jun 2011 to 597K in Jul, then 708K in Sep).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March 2012 dropped to 373K, while Dec 2013 surged to 1,874K (127% increase from Dec 2012). </a:t>
            </a:r>
          </a:p>
        </p:txBody>
      </p:sp>
    </p:spTree>
    <p:extLst>
      <p:ext uri="{BB962C8B-B14F-4D97-AF65-F5344CB8AC3E}">
        <p14:creationId xmlns:p14="http://schemas.microsoft.com/office/powerpoint/2010/main" val="2710876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0CA4F-ACC0-C663-F7CA-D80E167A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0047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/>
              <a:t>Top &amp; Bottom Performing Products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182477-704F-FB16-F5E8-FD230ECE99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58949"/>
            <a:ext cx="10515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Performing Products (by Sales Amount):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top 5 products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Mountain-200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bike variants (Black/Silver, sizes 38–46)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Combined, they generated over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$6.66M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revenue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suggests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demand for high-end mountain bikes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size 42–46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Bottom Performing Products: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lowest performers include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Touring Tire Tubes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 Wash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 Kits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Racing Socks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Together, they contributed less than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$26.2K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low traction or poor visibility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C05C0A-EDDC-BDF1-0D56-050C67B0E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72" y="772577"/>
            <a:ext cx="4277322" cy="2486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841A60-1F67-6BD9-166F-D8C25C76B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7" y="736538"/>
            <a:ext cx="4382112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7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1437-2178-90CA-49FF-EE6D3960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Recommendations Summary</a:t>
            </a:r>
            <a:br>
              <a:rPr lang="en-IN" sz="2800" b="1" dirty="0"/>
            </a:br>
            <a:r>
              <a:rPr lang="en-US" sz="2200" dirty="0">
                <a:latin typeface="+mn-lt"/>
              </a:rPr>
              <a:t>Based on our analysis of sales, products, customers, and time trends, here are our key recommendations to drive growth and operational efficiency:</a:t>
            </a:r>
            <a:endParaRPr lang="en-IN" sz="2200" b="1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55CA10-3309-DEA7-8F72-5D4C57B247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8158" y="1442592"/>
            <a:ext cx="10435683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Diversify Product Portfolio to Reduce Risk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Bikes category contributes 96% of total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this over-reliance poses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significant business risk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If market demand shifts, supply issues arise, or competition increases, the impact could be severe.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Invest in growing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Accessories and Clothing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product innovation, better positioning, and targeted promotions.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bundle behavior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understand what complementary products can be cross-sold or upgraded.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Launch seasonal or trend-based collections to stimulate demand outside core bike sales.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Diversifying revenue streams will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stabilize the business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create more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resilience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long term.</a:t>
            </a:r>
          </a:p>
        </p:txBody>
      </p:sp>
    </p:spTree>
    <p:extLst>
      <p:ext uri="{BB962C8B-B14F-4D97-AF65-F5344CB8AC3E}">
        <p14:creationId xmlns:p14="http://schemas.microsoft.com/office/powerpoint/2010/main" val="1887542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8A6E-924E-C62D-6B7A-32A111ED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57"/>
            <a:ext cx="10515600" cy="62701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2. Prioritize Top Markets</a:t>
            </a:r>
          </a:p>
          <a:p>
            <a:r>
              <a:rPr lang="en-US" sz="2200" dirty="0"/>
              <a:t>The </a:t>
            </a:r>
            <a:r>
              <a:rPr lang="en-US" sz="2200" b="1" dirty="0"/>
              <a:t>United States and Australia</a:t>
            </a:r>
            <a:r>
              <a:rPr lang="en-US" sz="2200" dirty="0"/>
              <a:t> contribute </a:t>
            </a:r>
            <a:r>
              <a:rPr lang="en-US" sz="2200" b="1" dirty="0"/>
              <a:t>&gt;60%</a:t>
            </a:r>
            <a:r>
              <a:rPr lang="en-US" sz="2200" dirty="0"/>
              <a:t> of total revenue.</a:t>
            </a:r>
          </a:p>
          <a:p>
            <a:r>
              <a:rPr lang="en-US" sz="2200" dirty="0"/>
              <a:t>Increase targeted advertising, partnerships, and stock availability in these regions.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600" b="1" dirty="0"/>
              <a:t>3. Improve Data Quality</a:t>
            </a:r>
          </a:p>
          <a:p>
            <a:r>
              <a:rPr lang="en-US" sz="2200" dirty="0"/>
              <a:t>Resolve </a:t>
            </a:r>
            <a:r>
              <a:rPr lang="en-US" sz="2200" b="1" dirty="0"/>
              <a:t>"n/a" entries</a:t>
            </a:r>
            <a:r>
              <a:rPr lang="en-US" sz="2200" dirty="0"/>
              <a:t> in country and product fields (~$230K in sales, 871 items).</a:t>
            </a:r>
          </a:p>
          <a:p>
            <a:r>
              <a:rPr lang="en-US" sz="2200" dirty="0"/>
              <a:t>Clean, complete data improves analytics, targeting, and reporting accuracy.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4. </a:t>
            </a:r>
            <a:r>
              <a:rPr lang="en-US" sz="2600" b="1" dirty="0"/>
              <a:t>Plan for Seasonal Peaks</a:t>
            </a:r>
          </a:p>
          <a:p>
            <a:r>
              <a:rPr lang="en-US" sz="2200" dirty="0"/>
              <a:t>Sales peaked massively in </a:t>
            </a:r>
            <a:r>
              <a:rPr lang="en-US" sz="2200" b="1" dirty="0"/>
              <a:t>2013 ($16.35M)</a:t>
            </a:r>
            <a:r>
              <a:rPr lang="en-US" sz="2200" dirty="0"/>
              <a:t> after a dip in 2012.</a:t>
            </a:r>
          </a:p>
          <a:p>
            <a:r>
              <a:rPr lang="en-US" sz="2200" dirty="0"/>
              <a:t>Investigate what drove this growth (e.g., campaigns, launches) and replicate the strategy during future seasons.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600" b="1" dirty="0"/>
              <a:t>5. Boost Cross-Selling Opportunities</a:t>
            </a:r>
          </a:p>
          <a:p>
            <a:r>
              <a:rPr lang="en-US" sz="2200" dirty="0"/>
              <a:t>Low accessory and clothing sales suggest missed cross-sell potential.</a:t>
            </a:r>
          </a:p>
          <a:p>
            <a:r>
              <a:rPr lang="en-US" sz="2200" dirty="0"/>
              <a:t>Promote </a:t>
            </a:r>
            <a:r>
              <a:rPr lang="en-US" sz="2200" b="1" dirty="0"/>
              <a:t>kits, bundles, or checkout suggestions</a:t>
            </a:r>
            <a:r>
              <a:rPr lang="en-US" sz="2200" dirty="0"/>
              <a:t> to raise accessory sales per order.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39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1030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Office Theme</vt:lpstr>
      <vt:lpstr>BIKE SALES ANALYSIS PROJECT REPORT</vt:lpstr>
      <vt:lpstr>Bike Sales analysis Project</vt:lpstr>
      <vt:lpstr>Exploratory Data Analysis</vt:lpstr>
      <vt:lpstr>Geographic Sales Distribution:</vt:lpstr>
      <vt:lpstr>Items Sold by Country</vt:lpstr>
      <vt:lpstr>Sales by Category &amp; Subcategory</vt:lpstr>
      <vt:lpstr>PowerPoint Presentation</vt:lpstr>
      <vt:lpstr>Sales Trend by Year (2010–2014)</vt:lpstr>
      <vt:lpstr>Sales by Month</vt:lpstr>
      <vt:lpstr>PowerPoint Presentation</vt:lpstr>
      <vt:lpstr>Top &amp; Bottom Performing Products</vt:lpstr>
      <vt:lpstr>Recommendations Summary Based on our analysis of sales, products, customers, and time trends, here are our key recommendations to drive growth and operational efficiency: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Dharmesh Rohit</dc:creator>
  <cp:lastModifiedBy>Dharmesh Rohit</cp:lastModifiedBy>
  <cp:revision>8</cp:revision>
  <dcterms:created xsi:type="dcterms:W3CDTF">2025-07-14T06:54:02Z</dcterms:created>
  <dcterms:modified xsi:type="dcterms:W3CDTF">2025-07-15T10:29:52Z</dcterms:modified>
</cp:coreProperties>
</file>